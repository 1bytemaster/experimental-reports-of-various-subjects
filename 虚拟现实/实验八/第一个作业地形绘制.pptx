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038" r:id="rId2"/>
    <p:sldId id="1082" r:id="rId3"/>
    <p:sldId id="1078" r:id="rId4"/>
    <p:sldId id="1083" r:id="rId5"/>
    <p:sldId id="1084" r:id="rId6"/>
    <p:sldId id="1085" r:id="rId7"/>
    <p:sldId id="1086" r:id="rId8"/>
    <p:sldId id="1087" r:id="rId9"/>
    <p:sldId id="1088" r:id="rId10"/>
    <p:sldId id="1089" r:id="rId11"/>
    <p:sldId id="1090" r:id="rId12"/>
    <p:sldId id="1091" r:id="rId13"/>
    <p:sldId id="1092" r:id="rId14"/>
    <p:sldId id="1093" r:id="rId15"/>
    <p:sldId id="1094" r:id="rId16"/>
    <p:sldId id="1095" r:id="rId17"/>
    <p:sldId id="882" r:id="rId18"/>
    <p:sldId id="1096" r:id="rId19"/>
    <p:sldId id="1102" r:id="rId20"/>
    <p:sldId id="1097" r:id="rId21"/>
    <p:sldId id="1098" r:id="rId22"/>
    <p:sldId id="872" r:id="rId23"/>
    <p:sldId id="1081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648D0C-C13B-41E5-9D61-E0C2C1F62644}">
          <p14:sldIdLst>
            <p14:sldId id="1038"/>
            <p14:sldId id="1082"/>
            <p14:sldId id="1078"/>
            <p14:sldId id="1083"/>
            <p14:sldId id="1084"/>
            <p14:sldId id="1085"/>
            <p14:sldId id="1086"/>
            <p14:sldId id="1087"/>
            <p14:sldId id="1088"/>
            <p14:sldId id="1089"/>
            <p14:sldId id="1090"/>
            <p14:sldId id="1091"/>
            <p14:sldId id="1092"/>
            <p14:sldId id="1093"/>
            <p14:sldId id="1094"/>
            <p14:sldId id="1095"/>
            <p14:sldId id="882"/>
            <p14:sldId id="1096"/>
            <p14:sldId id="1102"/>
            <p14:sldId id="1097"/>
            <p14:sldId id="1098"/>
            <p14:sldId id="872"/>
            <p14:sldId id="10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泽" initials="徐泽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2D3F1"/>
    <a:srgbClr val="D52A2F"/>
    <a:srgbClr val="1EE15C"/>
    <a:srgbClr val="DD4722"/>
    <a:srgbClr val="231F20"/>
    <a:srgbClr val="5CAA55"/>
    <a:srgbClr val="B4DD93"/>
    <a:srgbClr val="46B964"/>
    <a:srgbClr val="CF5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5" autoAdjust="0"/>
    <p:restoredTop sz="93902" autoAdjust="0"/>
  </p:normalViewPr>
  <p:slideViewPr>
    <p:cSldViewPr>
      <p:cViewPr varScale="1">
        <p:scale>
          <a:sx n="113" d="100"/>
          <a:sy n="113" d="100"/>
        </p:scale>
        <p:origin x="1776" y="184"/>
      </p:cViewPr>
      <p:guideLst>
        <p:guide orient="horz" pos="2160"/>
        <p:guide pos="288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>
        <p:guide orient="horz" pos="288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F4DCA-3177-4375-A53D-C33BDF2D97C5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70F7D-486B-488E-8EBC-4D52E95A3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E3B9F-8426-4C0A-B4B6-F9877F22AD29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DBA66-0B01-47E8-A365-7C30D6EBFF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对于每一个场景灯光是非常重要的部分。网格和纹理定义了场景的形状和外观，而灯光定义了场景的颜色和氛围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61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857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81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969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在这部分，如果没有贴图，那就导入资源包。</a:t>
            </a:r>
            <a:endParaRPr lang="en-US" altLang="zh-CN" dirty="0">
              <a:sym typeface="+mn-ea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477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32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562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地形绘制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231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添加完成后的属性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设置完成后就可以在地形上绘制。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08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添加完成后的属性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设置完成后就可以在地形上绘制。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995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添加完成后的属性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设置完成后就可以在地形上绘制。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39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添加完成后的属性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设置完成后就可以在地形上绘制。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53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树木和草的绘制（续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762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树木和草的绘制（续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530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水尽量做大些，防止看到边界。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595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水尽量做大些，防止看到边界。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13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水的放置和雾的效果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续</a:t>
            </a:r>
            <a:r>
              <a:rPr lang="en-US" altLang="zh-CN" dirty="0">
                <a:sym typeface="+mn-ea"/>
              </a:rPr>
              <a:t>2)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08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绘制一个地形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DBA66-0B01-47E8-A365-7C30D6EBFF28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62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4067944" y="108"/>
            <a:ext cx="5076056" cy="6840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77487" y="2088879"/>
            <a:ext cx="7772400" cy="1470025"/>
          </a:xfrm>
        </p:spPr>
        <p:txBody>
          <a:bodyPr>
            <a:noAutofit/>
          </a:bodyPr>
          <a:lstStyle>
            <a:lvl1pPr algn="l">
              <a:defRPr sz="6000" b="1"/>
            </a:lvl1pPr>
          </a:lstStyle>
          <a:p>
            <a:r>
              <a:rPr lang="zh-CN" altLang="en-US" dirty="0"/>
              <a:t>课程标题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75255" y="3564703"/>
            <a:ext cx="4256785" cy="622920"/>
          </a:xfrm>
          <a:solidFill>
            <a:srgbClr val="DC1F26"/>
          </a:solidFill>
        </p:spPr>
        <p:txBody>
          <a:bodyPr/>
          <a:lstStyle>
            <a:lvl1pPr marL="0" indent="0" algn="l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 课程英文副标题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2483768" y="3558904"/>
            <a:ext cx="4392513" cy="647675"/>
          </a:xfrm>
        </p:spPr>
        <p:txBody>
          <a:bodyPr>
            <a:noAutofit/>
          </a:bodyPr>
          <a:lstStyle>
            <a:lvl1pPr algn="r">
              <a:buNone/>
              <a:defRPr sz="4000" b="1">
                <a:solidFill>
                  <a:srgbClr val="00B0F0"/>
                </a:solidFill>
              </a:defRPr>
            </a:lvl1pPr>
          </a:lstStyle>
          <a:p>
            <a:pPr lvl="0"/>
            <a:r>
              <a:rPr lang="en-US" altLang="zh-CN" dirty="0"/>
              <a:t>DAY01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67544" y="260648"/>
            <a:ext cx="6768752" cy="713088"/>
          </a:xfrm>
        </p:spPr>
        <p:txBody>
          <a:bodyPr>
            <a:noAutofit/>
          </a:bodyPr>
          <a:lstStyle>
            <a:lvl1pPr algn="l">
              <a:defRPr sz="3200" b="1"/>
            </a:lvl1pPr>
          </a:lstStyle>
          <a:p>
            <a:r>
              <a:rPr lang="zh-CN" altLang="en-US" dirty="0"/>
              <a:t>知识点标题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643906" y="6366953"/>
            <a:ext cx="396138" cy="396138"/>
            <a:chOff x="71406" y="6069958"/>
            <a:chExt cx="716628" cy="716628"/>
          </a:xfrm>
        </p:grpSpPr>
        <p:sp>
          <p:nvSpPr>
            <p:cNvPr id="11" name="十字形 10"/>
            <p:cNvSpPr/>
            <p:nvPr userDrawn="1"/>
          </p:nvSpPr>
          <p:spPr>
            <a:xfrm>
              <a:off x="71406" y="6282586"/>
              <a:ext cx="504000" cy="504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十字形 13"/>
            <p:cNvSpPr/>
            <p:nvPr userDrawn="1"/>
          </p:nvSpPr>
          <p:spPr>
            <a:xfrm>
              <a:off x="500034" y="6069958"/>
              <a:ext cx="288000" cy="288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467545" y="1052736"/>
            <a:ext cx="8064896" cy="1009507"/>
          </a:xfrm>
        </p:spPr>
        <p:txBody>
          <a:bodyPr wrap="square">
            <a:spAutoFit/>
          </a:bodyPr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200"/>
            </a:lvl2pPr>
            <a:lvl3pPr marL="914400" indent="0">
              <a:buNone/>
              <a:defRPr sz="1800">
                <a:solidFill>
                  <a:srgbClr val="00B0F0"/>
                </a:solidFill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</p:txBody>
      </p:sp>
      <p:sp>
        <p:nvSpPr>
          <p:cNvPr id="8" name="标题 1"/>
          <p:cNvSpPr txBox="1"/>
          <p:nvPr userDrawn="1"/>
        </p:nvSpPr>
        <p:spPr>
          <a:xfrm>
            <a:off x="7584440" y="42049"/>
            <a:ext cx="1497600" cy="46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39" tIns="45720" rIns="91439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600" b="1" dirty="0">
                <a:solidFill>
                  <a:srgbClr val="F9FAFB"/>
                </a:solidFill>
              </a:rPr>
              <a:t>知识讲解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 userDrawn="1"/>
        </p:nvSpPr>
        <p:spPr>
          <a:xfrm>
            <a:off x="7583805" y="59055"/>
            <a:ext cx="1497600" cy="468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39" tIns="45720" rIns="91439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600" b="1" dirty="0">
                <a:solidFill>
                  <a:srgbClr val="F9FAFB"/>
                </a:solidFill>
              </a:rPr>
              <a:t>代码实践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67544" y="260648"/>
            <a:ext cx="6768752" cy="713088"/>
          </a:xfrm>
        </p:spPr>
        <p:txBody>
          <a:bodyPr>
            <a:noAutofit/>
          </a:bodyPr>
          <a:lstStyle>
            <a:lvl1pPr algn="l">
              <a:defRPr sz="3200" b="1"/>
            </a:lvl1pPr>
          </a:lstStyle>
          <a:p>
            <a:r>
              <a:rPr lang="zh-CN" altLang="en-US" dirty="0"/>
              <a:t>知识点标题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691531" y="6461568"/>
            <a:ext cx="396138" cy="396138"/>
            <a:chOff x="71406" y="6069958"/>
            <a:chExt cx="716628" cy="716628"/>
          </a:xfrm>
        </p:grpSpPr>
        <p:sp>
          <p:nvSpPr>
            <p:cNvPr id="11" name="十字形 10"/>
            <p:cNvSpPr/>
            <p:nvPr userDrawn="1"/>
          </p:nvSpPr>
          <p:spPr>
            <a:xfrm>
              <a:off x="71406" y="6282586"/>
              <a:ext cx="504000" cy="504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十字形 13"/>
            <p:cNvSpPr/>
            <p:nvPr userDrawn="1"/>
          </p:nvSpPr>
          <p:spPr>
            <a:xfrm>
              <a:off x="500034" y="6069958"/>
              <a:ext cx="288000" cy="288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467545" y="1052736"/>
            <a:ext cx="8064896" cy="1009507"/>
          </a:xfrm>
        </p:spPr>
        <p:txBody>
          <a:bodyPr wrap="square">
            <a:spAutoFit/>
          </a:bodyPr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200"/>
            </a:lvl2pPr>
            <a:lvl3pPr marL="914400" indent="0">
              <a:buNone/>
              <a:defRPr sz="1800">
                <a:solidFill>
                  <a:srgbClr val="00B0F0"/>
                </a:solidFill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知识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半闭框 8"/>
          <p:cNvSpPr/>
          <p:nvPr userDrawn="1"/>
        </p:nvSpPr>
        <p:spPr>
          <a:xfrm>
            <a:off x="0" y="0"/>
            <a:ext cx="2071702" cy="2143140"/>
          </a:xfrm>
          <a:prstGeom prst="halfFrame">
            <a:avLst>
              <a:gd name="adj1" fmla="val 3684"/>
              <a:gd name="adj2" fmla="val 506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10" name="半闭框 9"/>
          <p:cNvSpPr/>
          <p:nvPr userDrawn="1"/>
        </p:nvSpPr>
        <p:spPr>
          <a:xfrm rot="10800000">
            <a:off x="7419964" y="5143489"/>
            <a:ext cx="1724036" cy="1714511"/>
          </a:xfrm>
          <a:prstGeom prst="halfFrame">
            <a:avLst>
              <a:gd name="adj1" fmla="val 2490"/>
              <a:gd name="adj2" fmla="val 249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11" name="十字形 10"/>
          <p:cNvSpPr/>
          <p:nvPr userDrawn="1"/>
        </p:nvSpPr>
        <p:spPr>
          <a:xfrm>
            <a:off x="71406" y="6282586"/>
            <a:ext cx="504000" cy="504000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十字形 13"/>
          <p:cNvSpPr/>
          <p:nvPr userDrawn="1"/>
        </p:nvSpPr>
        <p:spPr>
          <a:xfrm>
            <a:off x="500034" y="6069958"/>
            <a:ext cx="288000" cy="288000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611561" y="404664"/>
            <a:ext cx="7920880" cy="6048672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堂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 userDrawn="1"/>
        </p:nvSpPr>
        <p:spPr>
          <a:xfrm>
            <a:off x="7594600" y="48399"/>
            <a:ext cx="1497600" cy="46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39" tIns="45720" rIns="91439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600" b="1" dirty="0">
                <a:solidFill>
                  <a:srgbClr val="F9FAFB"/>
                </a:solidFill>
              </a:rPr>
              <a:t>课堂练习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1472" y="571482"/>
            <a:ext cx="5643602" cy="1047757"/>
          </a:xfrm>
        </p:spPr>
        <p:txBody>
          <a:bodyPr>
            <a:noAutofit/>
          </a:bodyPr>
          <a:lstStyle>
            <a:lvl1pPr algn="l">
              <a:defRPr sz="2800" b="1"/>
            </a:lvl1pPr>
          </a:lstStyle>
          <a:p>
            <a:r>
              <a:rPr lang="zh-CN" altLang="en-US" dirty="0"/>
              <a:t>课堂练习标题</a:t>
            </a:r>
          </a:p>
        </p:txBody>
      </p:sp>
      <p:sp>
        <p:nvSpPr>
          <p:cNvPr id="15" name="内容占位符 15"/>
          <p:cNvSpPr>
            <a:spLocks noGrp="1"/>
          </p:cNvSpPr>
          <p:nvPr>
            <p:ph sz="quarter" idx="10"/>
          </p:nvPr>
        </p:nvSpPr>
        <p:spPr>
          <a:xfrm>
            <a:off x="611560" y="1628800"/>
            <a:ext cx="8136903" cy="48245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691531" y="6461568"/>
            <a:ext cx="396138" cy="396138"/>
            <a:chOff x="71406" y="6069958"/>
            <a:chExt cx="716628" cy="716628"/>
          </a:xfrm>
        </p:grpSpPr>
        <p:sp>
          <p:nvSpPr>
            <p:cNvPr id="9" name="十字形 8"/>
            <p:cNvSpPr/>
            <p:nvPr userDrawn="1"/>
          </p:nvSpPr>
          <p:spPr>
            <a:xfrm>
              <a:off x="71406" y="6282586"/>
              <a:ext cx="504000" cy="504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十字形 9"/>
            <p:cNvSpPr/>
            <p:nvPr userDrawn="1"/>
          </p:nvSpPr>
          <p:spPr>
            <a:xfrm>
              <a:off x="500034" y="6069958"/>
              <a:ext cx="288000" cy="288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代码实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1472" y="571482"/>
            <a:ext cx="5643602" cy="1047757"/>
          </a:xfrm>
        </p:spPr>
        <p:txBody>
          <a:bodyPr>
            <a:noAutofit/>
          </a:bodyPr>
          <a:lstStyle>
            <a:lvl1pPr algn="l">
              <a:defRPr sz="2800" b="1"/>
            </a:lvl1pPr>
          </a:lstStyle>
          <a:p>
            <a:r>
              <a:rPr lang="zh-CN" altLang="en-US" dirty="0"/>
              <a:t>代码实践标题</a:t>
            </a:r>
          </a:p>
        </p:txBody>
      </p:sp>
      <p:sp>
        <p:nvSpPr>
          <p:cNvPr id="9" name="半闭框 8"/>
          <p:cNvSpPr/>
          <p:nvPr userDrawn="1"/>
        </p:nvSpPr>
        <p:spPr>
          <a:xfrm rot="10800000">
            <a:off x="3923928" y="2969498"/>
            <a:ext cx="2071702" cy="2143140"/>
          </a:xfrm>
          <a:prstGeom prst="halfFrame">
            <a:avLst>
              <a:gd name="adj1" fmla="val 3684"/>
              <a:gd name="adj2" fmla="val 506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10" name="半闭框 9"/>
          <p:cNvSpPr/>
          <p:nvPr userDrawn="1"/>
        </p:nvSpPr>
        <p:spPr>
          <a:xfrm rot="10800000">
            <a:off x="7419964" y="5143489"/>
            <a:ext cx="1724036" cy="1714511"/>
          </a:xfrm>
          <a:prstGeom prst="halfFrame">
            <a:avLst>
              <a:gd name="adj1" fmla="val 2490"/>
              <a:gd name="adj2" fmla="val 249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12" name="内容占位符 15"/>
          <p:cNvSpPr>
            <a:spLocks noGrp="1"/>
          </p:cNvSpPr>
          <p:nvPr>
            <p:ph sz="quarter" idx="10"/>
          </p:nvPr>
        </p:nvSpPr>
        <p:spPr>
          <a:xfrm>
            <a:off x="611560" y="1628800"/>
            <a:ext cx="8136903" cy="48245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3" name="标题 1"/>
          <p:cNvSpPr txBox="1"/>
          <p:nvPr userDrawn="1"/>
        </p:nvSpPr>
        <p:spPr>
          <a:xfrm>
            <a:off x="7583805" y="59055"/>
            <a:ext cx="1497600" cy="468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39" tIns="45720" rIns="91439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600" b="1" dirty="0">
                <a:solidFill>
                  <a:srgbClr val="F9FAFB"/>
                </a:solidFill>
              </a:rPr>
              <a:t>代码实践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691531" y="6461568"/>
            <a:ext cx="396138" cy="396138"/>
            <a:chOff x="71406" y="6069958"/>
            <a:chExt cx="716628" cy="716628"/>
          </a:xfrm>
        </p:grpSpPr>
        <p:sp>
          <p:nvSpPr>
            <p:cNvPr id="4" name="十字形 3"/>
            <p:cNvSpPr/>
            <p:nvPr userDrawn="1"/>
          </p:nvSpPr>
          <p:spPr>
            <a:xfrm>
              <a:off x="71406" y="6282586"/>
              <a:ext cx="504000" cy="504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十字形 4"/>
            <p:cNvSpPr/>
            <p:nvPr userDrawn="1"/>
          </p:nvSpPr>
          <p:spPr>
            <a:xfrm>
              <a:off x="500034" y="6069958"/>
              <a:ext cx="288000" cy="288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知识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 userDrawn="1"/>
        </p:nvSpPr>
        <p:spPr>
          <a:xfrm>
            <a:off x="7592695" y="42049"/>
            <a:ext cx="1497600" cy="4680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39" tIns="45720" rIns="91439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1600" b="1" dirty="0">
                <a:solidFill>
                  <a:srgbClr val="F9FAFB"/>
                </a:solidFill>
              </a:rPr>
              <a:t>知识案例</a:t>
            </a:r>
            <a:endParaRPr lang="en-US" altLang="zh-CN" sz="1600" b="1" dirty="0">
              <a:solidFill>
                <a:srgbClr val="F9FAFB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1472" y="571482"/>
            <a:ext cx="5643602" cy="1047757"/>
          </a:xfrm>
        </p:spPr>
        <p:txBody>
          <a:bodyPr>
            <a:noAutofit/>
          </a:bodyPr>
          <a:lstStyle>
            <a:lvl1pPr algn="l">
              <a:defRPr sz="3200" b="1"/>
            </a:lvl1pPr>
          </a:lstStyle>
          <a:p>
            <a:r>
              <a:rPr lang="zh-CN" altLang="en-US" dirty="0"/>
              <a:t>知识案例标题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71472" y="1714488"/>
            <a:ext cx="8215370" cy="4667283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知识案例内容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691531" y="6461568"/>
            <a:ext cx="396138" cy="396138"/>
            <a:chOff x="71406" y="6069958"/>
            <a:chExt cx="716628" cy="716628"/>
          </a:xfrm>
        </p:grpSpPr>
        <p:sp>
          <p:nvSpPr>
            <p:cNvPr id="4" name="十字形 3"/>
            <p:cNvSpPr/>
            <p:nvPr userDrawn="1"/>
          </p:nvSpPr>
          <p:spPr>
            <a:xfrm>
              <a:off x="71406" y="6282586"/>
              <a:ext cx="504000" cy="504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十字形 4"/>
            <p:cNvSpPr/>
            <p:nvPr userDrawn="1"/>
          </p:nvSpPr>
          <p:spPr>
            <a:xfrm>
              <a:off x="500034" y="6069958"/>
              <a:ext cx="288000" cy="288000"/>
            </a:xfrm>
            <a:prstGeom prst="plus">
              <a:avLst>
                <a:gd name="adj" fmla="val 3784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28662" y="2060848"/>
            <a:ext cx="6786610" cy="1047757"/>
          </a:xfrm>
        </p:spPr>
        <p:txBody>
          <a:bodyPr>
            <a:no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内容标题</a:t>
            </a:r>
          </a:p>
        </p:txBody>
      </p:sp>
      <p:sp>
        <p:nvSpPr>
          <p:cNvPr id="9" name="圆角矩形 8"/>
          <p:cNvSpPr/>
          <p:nvPr userDrawn="1"/>
        </p:nvSpPr>
        <p:spPr>
          <a:xfrm>
            <a:off x="899592" y="3161931"/>
            <a:ext cx="6840760" cy="216024"/>
          </a:xfrm>
          <a:prstGeom prst="roundRect">
            <a:avLst/>
          </a:prstGeom>
          <a:solidFill>
            <a:srgbClr val="DC1F26"/>
          </a:solidFill>
          <a:ln w="381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28662" y="2060848"/>
            <a:ext cx="6786610" cy="1047757"/>
          </a:xfrm>
        </p:spPr>
        <p:txBody>
          <a:bodyPr>
            <a:no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内容标题</a:t>
            </a:r>
          </a:p>
        </p:txBody>
      </p:sp>
      <p:sp>
        <p:nvSpPr>
          <p:cNvPr id="9" name="圆角矩形 8"/>
          <p:cNvSpPr/>
          <p:nvPr userDrawn="1"/>
        </p:nvSpPr>
        <p:spPr>
          <a:xfrm>
            <a:off x="899592" y="3161931"/>
            <a:ext cx="6840760" cy="216024"/>
          </a:xfrm>
          <a:prstGeom prst="roundRect">
            <a:avLst/>
          </a:prstGeom>
          <a:solidFill>
            <a:srgbClr val="00B050"/>
          </a:solidFill>
          <a:ln w="381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71600" y="1916831"/>
            <a:ext cx="6984776" cy="3672409"/>
          </a:xfrm>
          <a:noFill/>
        </p:spPr>
        <p:txBody>
          <a:bodyPr>
            <a:normAutofit/>
          </a:bodyPr>
          <a:lstStyle>
            <a:lvl1pPr marL="457200" indent="-457200" algn="l">
              <a:buFont typeface="+mj-lt"/>
              <a:buAutoNum type="arabicPeriod"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本节内容</a:t>
            </a:r>
            <a:endParaRPr lang="en-US" altLang="zh-CN" dirty="0"/>
          </a:p>
          <a:p>
            <a:r>
              <a:rPr lang="zh-CN" altLang="en-US" dirty="0"/>
              <a:t>本节内容</a:t>
            </a:r>
          </a:p>
        </p:txBody>
      </p:sp>
      <p:sp>
        <p:nvSpPr>
          <p:cNvPr id="9" name="十字形 8"/>
          <p:cNvSpPr/>
          <p:nvPr userDrawn="1"/>
        </p:nvSpPr>
        <p:spPr>
          <a:xfrm>
            <a:off x="142844" y="6215082"/>
            <a:ext cx="504000" cy="504000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十字形 9"/>
          <p:cNvSpPr/>
          <p:nvPr userDrawn="1"/>
        </p:nvSpPr>
        <p:spPr>
          <a:xfrm>
            <a:off x="569224" y="6000768"/>
            <a:ext cx="288000" cy="288000"/>
          </a:xfrm>
          <a:prstGeom prst="plus">
            <a:avLst>
              <a:gd name="adj" fmla="val 37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548680"/>
            <a:ext cx="9144000" cy="936104"/>
          </a:xfrm>
          <a:prstGeom prst="rect">
            <a:avLst/>
          </a:prstGeom>
          <a:solidFill>
            <a:srgbClr val="DC1F26"/>
          </a:solidFill>
          <a:ln>
            <a:solidFill>
              <a:srgbClr val="DC1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地形绘制（</a:t>
            </a:r>
            <a:r>
              <a:rPr lang="en-US" altLang="zh-CN" dirty="0"/>
              <a:t>Terrain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50C2FB-6CBF-4111-A4CE-971407303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地形绘制简介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80269-7BEF-4A1E-B14A-A12A0CB6F5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552" y="1484784"/>
            <a:ext cx="8064896" cy="212301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Unity</a:t>
            </a:r>
            <a:r>
              <a:rPr lang="zh-CN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自带的</a:t>
            </a:r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Terrain</a:t>
            </a:r>
            <a:r>
              <a:rPr lang="zh-CN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系统，可以轻松地绘制大型地图，包括地形的创建、植物笔刷、河流湖泊的创建等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40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>
            <a:extLst>
              <a:ext uri="{FF2B5EF4-FFF2-40B4-BE49-F238E27FC236}">
                <a16:creationId xmlns:a16="http://schemas.microsoft.com/office/drawing/2014/main" id="{28D52205-C501-409A-B9E9-7360B9BC2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创建地形</a:t>
            </a:r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8A84FBA1-19C5-490D-8600-7E5BF0CF55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" y="1292225"/>
            <a:ext cx="8353112" cy="696615"/>
          </a:xfrm>
        </p:spPr>
        <p:txBody>
          <a:bodyPr wrap="square"/>
          <a:lstStyle/>
          <a:p>
            <a:pPr marL="0" indent="0">
              <a:buNone/>
            </a:pPr>
            <a:r>
              <a:rPr lang="en-US" altLang="zh-CN" dirty="0"/>
              <a:t>    首先新建一个Unity3D工程，然后开始新建一个地形如图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088108-9D32-4458-86E2-5C3CBF748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079664"/>
            <a:ext cx="7582738" cy="4265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B8CDC-7F16-4C9D-8EA4-7D5A11DACD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545" y="1052736"/>
            <a:ext cx="8064896" cy="168122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第二种方法：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在“</a:t>
            </a:r>
            <a:r>
              <a:rPr lang="en-US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Hierarchy</a:t>
            </a: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”面板点击鼠标右键，在</a:t>
            </a:r>
            <a:r>
              <a:rPr lang="en-US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3D</a:t>
            </a: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物体中找到“</a:t>
            </a:r>
            <a:r>
              <a:rPr lang="en-US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Terrain</a:t>
            </a: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en-US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地形系统，点击创建</a:t>
            </a:r>
            <a:endParaRPr lang="zh-CN" altLang="en-US" sz="2800" dirty="0"/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99E2E28C-A6AF-492C-92F9-3BEBE9033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260648"/>
            <a:ext cx="6768752" cy="713088"/>
          </a:xfrm>
        </p:spPr>
        <p:txBody>
          <a:bodyPr/>
          <a:lstStyle/>
          <a:p>
            <a:r>
              <a:rPr lang="zh-CN" altLang="en-US" dirty="0"/>
              <a:t>创建地形</a:t>
            </a:r>
          </a:p>
        </p:txBody>
      </p:sp>
      <p:pic>
        <p:nvPicPr>
          <p:cNvPr id="2050" name="图片 2">
            <a:extLst>
              <a:ext uri="{FF2B5EF4-FFF2-40B4-BE49-F238E27FC236}">
                <a16:creationId xmlns:a16="http://schemas.microsoft.com/office/drawing/2014/main" id="{6DD3D677-133D-41A0-BDCB-20E25B324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733965"/>
            <a:ext cx="2736304" cy="4062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911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260648"/>
            <a:ext cx="7272808" cy="713088"/>
          </a:xfrm>
        </p:spPr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r>
              <a:rPr lang="en-US" altLang="zh-CN" dirty="0"/>
              <a:t>---</a:t>
            </a:r>
            <a:r>
              <a:rPr lang="zh-CN" altLang="en-US" dirty="0"/>
              <a:t>山丘、高山、洼地、沟壑</a:t>
            </a:r>
            <a:r>
              <a:rPr lang="en-US" altLang="zh-CN" dirty="0"/>
              <a:t>…</a:t>
            </a:r>
            <a:endParaRPr lang="zh-CN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467360" y="1292225"/>
            <a:ext cx="8140065" cy="1458220"/>
          </a:xfrm>
        </p:spPr>
        <p:txBody>
          <a:bodyPr wrap="square"/>
          <a:lstStyle/>
          <a:p>
            <a:r>
              <a:rPr lang="zh-CN" altLang="en-US" dirty="0"/>
              <a:t>绘制山丘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dirty="0"/>
              <a:t>地形的绘制提供给我们</a:t>
            </a:r>
            <a:r>
              <a:rPr lang="en-US" altLang="zh-CN" dirty="0"/>
              <a:t>3</a:t>
            </a:r>
            <a:r>
              <a:rPr lang="zh-CN" altLang="zh-CN" dirty="0"/>
              <a:t>个功能按钮，从左到右分别是</a:t>
            </a:r>
            <a:r>
              <a:rPr lang="zh-CN" altLang="zh-CN" b="1" dirty="0">
                <a:solidFill>
                  <a:srgbClr val="FFFF00"/>
                </a:solidFill>
              </a:rPr>
              <a:t>高度编辑、固定高度编辑、平滑度设置</a:t>
            </a:r>
          </a:p>
        </p:txBody>
      </p:sp>
      <p:pic>
        <p:nvPicPr>
          <p:cNvPr id="3074" name="图片 7">
            <a:extLst>
              <a:ext uri="{FF2B5EF4-FFF2-40B4-BE49-F238E27FC236}">
                <a16:creationId xmlns:a16="http://schemas.microsoft.com/office/drawing/2014/main" id="{46FBBDD4-27E1-4F5B-8DA2-520D4370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48880"/>
            <a:ext cx="2889198" cy="83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5" name="图片 8">
            <a:extLst>
              <a:ext uri="{FF2B5EF4-FFF2-40B4-BE49-F238E27FC236}">
                <a16:creationId xmlns:a16="http://schemas.microsoft.com/office/drawing/2014/main" id="{E8E58E3C-1287-484D-A759-ACB253C17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798" y="3333740"/>
            <a:ext cx="866066" cy="75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B6703F7-BD0E-4B95-99BC-0FA1E9A2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95" y="3404372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高度编辑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496BD2-7060-40EB-AAB2-906757AF9005}"/>
              </a:ext>
            </a:extLst>
          </p:cNvPr>
          <p:cNvSpPr txBox="1"/>
          <p:nvPr/>
        </p:nvSpPr>
        <p:spPr>
          <a:xfrm>
            <a:off x="672280" y="4091547"/>
            <a:ext cx="8208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选中后，在地形地图上需要绘制的地方点击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鼠标左键绘制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地形，</a:t>
            </a:r>
            <a:r>
              <a:rPr lang="en-US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Shift+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左键消除地形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。选中编辑高度按钮，会出现相关的属性</a:t>
            </a:r>
          </a:p>
        </p:txBody>
      </p:sp>
    </p:spTree>
    <p:extLst>
      <p:ext uri="{BB962C8B-B14F-4D97-AF65-F5344CB8AC3E}">
        <p14:creationId xmlns:p14="http://schemas.microsoft.com/office/powerpoint/2010/main" val="236515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5" name="图片 8">
            <a:extLst>
              <a:ext uri="{FF2B5EF4-FFF2-40B4-BE49-F238E27FC236}">
                <a16:creationId xmlns:a16="http://schemas.microsoft.com/office/drawing/2014/main" id="{E8E58E3C-1287-484D-A759-ACB253C17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502" y="1021361"/>
            <a:ext cx="866066" cy="75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B6703F7-BD0E-4B95-99BC-0FA1E9A2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99" y="1091993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高度编辑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496BD2-7060-40EB-AAB2-906757AF9005}"/>
              </a:ext>
            </a:extLst>
          </p:cNvPr>
          <p:cNvSpPr txBox="1"/>
          <p:nvPr/>
        </p:nvSpPr>
        <p:spPr>
          <a:xfrm>
            <a:off x="579984" y="1779168"/>
            <a:ext cx="8208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选中后，在地形地图上需要绘制的地方点击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鼠标左键绘制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地形，</a:t>
            </a:r>
            <a:r>
              <a:rPr lang="en-US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Shift+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左键消除地形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选中编辑高度按钮，会出现相关的属性</a:t>
            </a:r>
          </a:p>
        </p:txBody>
      </p:sp>
      <p:pic>
        <p:nvPicPr>
          <p:cNvPr id="4098" name="图片 9">
            <a:extLst>
              <a:ext uri="{FF2B5EF4-FFF2-40B4-BE49-F238E27FC236}">
                <a16:creationId xmlns:a16="http://schemas.microsoft.com/office/drawing/2014/main" id="{0D1434EC-5C3D-4389-8EEE-D82862F6A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86310"/>
            <a:ext cx="4748373" cy="256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E229183-4E8B-49A4-87A5-1C8B8C013AE1}"/>
              </a:ext>
            </a:extLst>
          </p:cNvPr>
          <p:cNvSpPr txBox="1"/>
          <p:nvPr/>
        </p:nvSpPr>
        <p:spPr>
          <a:xfrm>
            <a:off x="395536" y="3344521"/>
            <a:ext cx="40324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Brushes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：地形绘制画笔，这里有很多种画笔的图案可供我们选择。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画笔宽度取值范围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Opacity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画笔强度</a:t>
            </a:r>
          </a:p>
        </p:txBody>
      </p:sp>
    </p:spTree>
    <p:extLst>
      <p:ext uri="{BB962C8B-B14F-4D97-AF65-F5344CB8AC3E}">
        <p14:creationId xmlns:p14="http://schemas.microsoft.com/office/powerpoint/2010/main" val="333088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496BD2-7060-40EB-AAB2-906757AF9005}"/>
              </a:ext>
            </a:extLst>
          </p:cNvPr>
          <p:cNvSpPr txBox="1"/>
          <p:nvPr/>
        </p:nvSpPr>
        <p:spPr>
          <a:xfrm>
            <a:off x="579984" y="1779168"/>
            <a:ext cx="8208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选中后，</a:t>
            </a:r>
            <a:r>
              <a:rPr lang="zh-CN" altLang="zh-CN" sz="2400" b="1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先设定笔刷绘制的高度</a:t>
            </a:r>
            <a:r>
              <a:rPr lang="zh-CN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然后在地形地图上需要绘制的地方点击</a:t>
            </a:r>
            <a:r>
              <a:rPr lang="zh-CN" altLang="zh-CN" sz="2400" b="1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鼠标左键</a:t>
            </a:r>
            <a:r>
              <a:rPr lang="zh-CN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绘制地形。</a:t>
            </a:r>
          </a:p>
        </p:txBody>
      </p:sp>
      <p:pic>
        <p:nvPicPr>
          <p:cNvPr id="5121" name="图片 11">
            <a:extLst>
              <a:ext uri="{FF2B5EF4-FFF2-40B4-BE49-F238E27FC236}">
                <a16:creationId xmlns:a16="http://schemas.microsoft.com/office/drawing/2014/main" id="{2F9F0D62-C227-4828-B96E-7150F8391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98100"/>
            <a:ext cx="670038" cy="67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672467B-7623-44C4-8C1C-BF473B74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082714"/>
            <a:ext cx="3240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固定高度编辑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4" name="图片 13">
            <a:extLst>
              <a:ext uri="{FF2B5EF4-FFF2-40B4-BE49-F238E27FC236}">
                <a16:creationId xmlns:a16="http://schemas.microsoft.com/office/drawing/2014/main" id="{1BF3FF9C-752B-4B30-BE1A-951CC8E8D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6" y="2865383"/>
            <a:ext cx="5035427" cy="3361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643D64A-6AF2-42DC-BF88-90FEFAD55270}"/>
              </a:ext>
            </a:extLst>
          </p:cNvPr>
          <p:cNvSpPr txBox="1"/>
          <p:nvPr/>
        </p:nvSpPr>
        <p:spPr>
          <a:xfrm>
            <a:off x="323528" y="2904135"/>
            <a:ext cx="36003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Brushes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：地形绘制画笔</a:t>
            </a:r>
            <a:endParaRPr lang="en-US" altLang="zh-CN" sz="2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画笔宽度取值范围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Opacity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画笔强度</a:t>
            </a:r>
          </a:p>
          <a:p>
            <a:pPr marL="838200" indent="-838200"/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Height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绘制的高度，设置好后绘制出的高度是固定的</a:t>
            </a:r>
          </a:p>
        </p:txBody>
      </p:sp>
    </p:spTree>
    <p:extLst>
      <p:ext uri="{BB962C8B-B14F-4D97-AF65-F5344CB8AC3E}">
        <p14:creationId xmlns:p14="http://schemas.microsoft.com/office/powerpoint/2010/main" val="276798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145" name="图片 16">
            <a:extLst>
              <a:ext uri="{FF2B5EF4-FFF2-40B4-BE49-F238E27FC236}">
                <a16:creationId xmlns:a16="http://schemas.microsoft.com/office/drawing/2014/main" id="{55E72B48-9441-42E8-B451-CF97B3723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081093"/>
            <a:ext cx="732680" cy="71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9561244-7A4A-4EA3-99F8-815390C7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2" y="1165578"/>
            <a:ext cx="21852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平滑度设置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BE4483-EE27-41C3-A08B-4CC8A85FA95E}"/>
              </a:ext>
            </a:extLst>
          </p:cNvPr>
          <p:cNvSpPr txBox="1"/>
          <p:nvPr/>
        </p:nvSpPr>
        <p:spPr>
          <a:xfrm>
            <a:off x="586582" y="1880640"/>
            <a:ext cx="8161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选中后，在地形地图上已经绘制地形的需要平滑过渡的地方点击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鼠标左键进行平滑过渡</a:t>
            </a:r>
          </a:p>
        </p:txBody>
      </p:sp>
      <p:pic>
        <p:nvPicPr>
          <p:cNvPr id="6148" name="图片 17">
            <a:extLst>
              <a:ext uri="{FF2B5EF4-FFF2-40B4-BE49-F238E27FC236}">
                <a16:creationId xmlns:a16="http://schemas.microsoft.com/office/drawing/2014/main" id="{431876B6-CB20-4C31-9F90-616916E43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147" y="2844423"/>
            <a:ext cx="4980535" cy="332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0E5DFF5-C220-4997-85D5-3108A1F62FF7}"/>
              </a:ext>
            </a:extLst>
          </p:cNvPr>
          <p:cNvSpPr txBox="1"/>
          <p:nvPr/>
        </p:nvSpPr>
        <p:spPr>
          <a:xfrm>
            <a:off x="471364" y="3058255"/>
            <a:ext cx="34525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Brushes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：地形绘制画笔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 :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画笔宽度取值范围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Opacity :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画笔强度</a:t>
            </a:r>
          </a:p>
        </p:txBody>
      </p:sp>
    </p:spTree>
    <p:extLst>
      <p:ext uri="{BB962C8B-B14F-4D97-AF65-F5344CB8AC3E}">
        <p14:creationId xmlns:p14="http://schemas.microsoft.com/office/powerpoint/2010/main" val="19201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r>
              <a:rPr lang="en-US" altLang="zh-CN" dirty="0"/>
              <a:t>-----</a:t>
            </a:r>
            <a:r>
              <a:rPr lang="zh-CN" altLang="en-US" dirty="0"/>
              <a:t>绘制草地等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561244-7A4A-4EA3-99F8-815390C7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2" y="1165578"/>
            <a:ext cx="26172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纹理贴图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------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图片 19">
            <a:extLst>
              <a:ext uri="{FF2B5EF4-FFF2-40B4-BE49-F238E27FC236}">
                <a16:creationId xmlns:a16="http://schemas.microsoft.com/office/drawing/2014/main" id="{A0BA67F5-81C6-47D8-88F2-5C12E3E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205" y="1116351"/>
            <a:ext cx="664394" cy="63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B0F58DE-59A0-4C01-A933-9E97BC1AD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109" y="1119520"/>
            <a:ext cx="2039293" cy="61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88872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贴图笔刷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2" name="图片 20">
            <a:extLst>
              <a:ext uri="{FF2B5EF4-FFF2-40B4-BE49-F238E27FC236}">
                <a16:creationId xmlns:a16="http://schemas.microsoft.com/office/drawing/2014/main" id="{B0D10DF5-B4BB-4AAE-AD02-17AC25E22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574" y="1961400"/>
            <a:ext cx="5275262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06B2EDF-34F0-40D4-A21D-5D4FABDF4C87}"/>
              </a:ext>
            </a:extLst>
          </p:cNvPr>
          <p:cNvSpPr txBox="1"/>
          <p:nvPr/>
        </p:nvSpPr>
        <p:spPr>
          <a:xfrm>
            <a:off x="755576" y="4797605"/>
            <a:ext cx="6168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画笔宽度取值范围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Opacity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画笔强度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Target Strength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贴图密度</a:t>
            </a:r>
          </a:p>
        </p:txBody>
      </p:sp>
    </p:spTree>
    <p:extLst>
      <p:ext uri="{BB962C8B-B14F-4D97-AF65-F5344CB8AC3E}">
        <p14:creationId xmlns:p14="http://schemas.microsoft.com/office/powerpoint/2010/main" val="2283988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561244-7A4A-4EA3-99F8-815390C7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2" y="1165578"/>
            <a:ext cx="26172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纹理贴图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------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图片 19">
            <a:extLst>
              <a:ext uri="{FF2B5EF4-FFF2-40B4-BE49-F238E27FC236}">
                <a16:creationId xmlns:a16="http://schemas.microsoft.com/office/drawing/2014/main" id="{A0BA67F5-81C6-47D8-88F2-5C12E3E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205" y="1116351"/>
            <a:ext cx="664394" cy="63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B0F58DE-59A0-4C01-A933-9E97BC1AD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109" y="1119520"/>
            <a:ext cx="2039293" cy="61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88872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贴图笔刷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59E48F-31EF-49B0-A6BE-562E0D63ECB4}"/>
              </a:ext>
            </a:extLst>
          </p:cNvPr>
          <p:cNvSpPr txBox="1"/>
          <p:nvPr/>
        </p:nvSpPr>
        <p:spPr>
          <a:xfrm>
            <a:off x="650540" y="1858441"/>
            <a:ext cx="8241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设置好相关属性后，添加贴图，点击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”Edit Textures”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添加图片</a:t>
            </a:r>
          </a:p>
        </p:txBody>
      </p:sp>
      <p:pic>
        <p:nvPicPr>
          <p:cNvPr id="8195" name="图片 23">
            <a:extLst>
              <a:ext uri="{FF2B5EF4-FFF2-40B4-BE49-F238E27FC236}">
                <a16:creationId xmlns:a16="http://schemas.microsoft.com/office/drawing/2014/main" id="{7414AFF5-7C88-4458-A7F7-E55C44561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66" t="55830"/>
          <a:stretch/>
        </p:blipFill>
        <p:spPr bwMode="auto">
          <a:xfrm>
            <a:off x="6516216" y="4041505"/>
            <a:ext cx="2498065" cy="175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图片 22">
            <a:extLst>
              <a:ext uri="{FF2B5EF4-FFF2-40B4-BE49-F238E27FC236}">
                <a16:creationId xmlns:a16="http://schemas.microsoft.com/office/drawing/2014/main" id="{443D6E2B-1209-45AC-9488-42B0D7DFA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668"/>
            <a:ext cx="5510041" cy="3922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0C01EBAD-1E7D-4817-9282-8FEEB5F4F79C}"/>
              </a:ext>
            </a:extLst>
          </p:cNvPr>
          <p:cNvSpPr/>
          <p:nvPr/>
        </p:nvSpPr>
        <p:spPr>
          <a:xfrm>
            <a:off x="6036543" y="4628753"/>
            <a:ext cx="432048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87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zh-CN" dirty="0"/>
              <a:t>地形</a:t>
            </a:r>
            <a:endParaRPr lang="zh-C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04BEF1-5C47-4338-9A6D-8752360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5" y="263332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561244-7A4A-4EA3-99F8-815390C7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2" y="1165578"/>
            <a:ext cx="26172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纹理贴图</a:t>
            </a: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------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图片 19">
            <a:extLst>
              <a:ext uri="{FF2B5EF4-FFF2-40B4-BE49-F238E27FC236}">
                <a16:creationId xmlns:a16="http://schemas.microsoft.com/office/drawing/2014/main" id="{A0BA67F5-81C6-47D8-88F2-5C12E3E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205" y="1116351"/>
            <a:ext cx="664394" cy="63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B0F58DE-59A0-4C01-A933-9E97BC1AD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109" y="1119520"/>
            <a:ext cx="2039293" cy="61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88872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贴图笔刷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C01EBAD-1E7D-4817-9282-8FEEB5F4F79C}"/>
              </a:ext>
            </a:extLst>
          </p:cNvPr>
          <p:cNvSpPr/>
          <p:nvPr/>
        </p:nvSpPr>
        <p:spPr>
          <a:xfrm>
            <a:off x="4279181" y="4285000"/>
            <a:ext cx="432048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A61213-D422-49A7-8875-CD7F2EC249DB}"/>
              </a:ext>
            </a:extLst>
          </p:cNvPr>
          <p:cNvSpPr txBox="1"/>
          <p:nvPr/>
        </p:nvSpPr>
        <p:spPr>
          <a:xfrm>
            <a:off x="467544" y="1775092"/>
            <a:ext cx="8449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Select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挑选纹理贴图，可以在尺寸设置框设置贴图的尺寸，设置好后点击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Add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添加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r>
              <a:rPr lang="zh-CN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然后在需要的位置绘制即可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218" name="图片 24">
            <a:extLst>
              <a:ext uri="{FF2B5EF4-FFF2-40B4-BE49-F238E27FC236}">
                <a16:creationId xmlns:a16="http://schemas.microsoft.com/office/drawing/2014/main" id="{0F8060D2-2C14-4359-A23D-9C15D6CF1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385" y="2707216"/>
            <a:ext cx="2520911" cy="395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图片 27">
            <a:extLst>
              <a:ext uri="{FF2B5EF4-FFF2-40B4-BE49-F238E27FC236}">
                <a16:creationId xmlns:a16="http://schemas.microsoft.com/office/drawing/2014/main" id="{7E131285-8138-43A0-8408-178AD4C3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113" y="2707216"/>
            <a:ext cx="2520911" cy="395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BDBB68E6-3AB6-4582-B7B3-0386E460B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8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21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植物</a:t>
            </a:r>
            <a:endParaRPr lang="zh-C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DBB68E6-3AB6-4582-B7B3-0386E460B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87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1" name="图片 30">
            <a:extLst>
              <a:ext uri="{FF2B5EF4-FFF2-40B4-BE49-F238E27FC236}">
                <a16:creationId xmlns:a16="http://schemas.microsoft.com/office/drawing/2014/main" id="{4789B5DD-260C-4251-9AF1-05235427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034605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3AAE6AC-7D57-492D-8C1B-324B2A20F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822" y="1160900"/>
            <a:ext cx="18409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笔刷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4" name="图片 31">
            <a:extLst>
              <a:ext uri="{FF2B5EF4-FFF2-40B4-BE49-F238E27FC236}">
                <a16:creationId xmlns:a16="http://schemas.microsoft.com/office/drawing/2014/main" id="{374F4CFA-5A56-492C-9B0F-5E95F0D4C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5679452" cy="2610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45" name="图片 32">
            <a:extLst>
              <a:ext uri="{FF2B5EF4-FFF2-40B4-BE49-F238E27FC236}">
                <a16:creationId xmlns:a16="http://schemas.microsoft.com/office/drawing/2014/main" id="{6B0206CA-AE87-4157-8B55-DDAB50D2D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83" t="41007" b="6536"/>
          <a:stretch/>
        </p:blipFill>
        <p:spPr bwMode="auto">
          <a:xfrm>
            <a:off x="6532346" y="2852954"/>
            <a:ext cx="2521198" cy="166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E32A8C09-B1F6-4F2C-ACED-30304A496992}"/>
              </a:ext>
            </a:extLst>
          </p:cNvPr>
          <p:cNvSpPr/>
          <p:nvPr/>
        </p:nvSpPr>
        <p:spPr>
          <a:xfrm>
            <a:off x="6078227" y="3343059"/>
            <a:ext cx="357065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6" name="图片 33">
            <a:extLst>
              <a:ext uri="{FF2B5EF4-FFF2-40B4-BE49-F238E27FC236}">
                <a16:creationId xmlns:a16="http://schemas.microsoft.com/office/drawing/2014/main" id="{6EE90E79-61AF-4473-AC4B-51E49AEA0B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63"/>
          <a:stretch/>
        </p:blipFill>
        <p:spPr bwMode="auto">
          <a:xfrm>
            <a:off x="2159732" y="5218956"/>
            <a:ext cx="4824536" cy="144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31587736-6B6D-465C-BF3F-16106B8396CC}"/>
              </a:ext>
            </a:extLst>
          </p:cNvPr>
          <p:cNvSpPr/>
          <p:nvPr/>
        </p:nvSpPr>
        <p:spPr>
          <a:xfrm rot="7909736">
            <a:off x="6988812" y="4726203"/>
            <a:ext cx="750556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753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植物</a:t>
            </a:r>
            <a:endParaRPr lang="zh-CN" dirty="0"/>
          </a:p>
        </p:txBody>
      </p:sp>
      <p:pic>
        <p:nvPicPr>
          <p:cNvPr id="10241" name="图片 30">
            <a:extLst>
              <a:ext uri="{FF2B5EF4-FFF2-40B4-BE49-F238E27FC236}">
                <a16:creationId xmlns:a16="http://schemas.microsoft.com/office/drawing/2014/main" id="{4789B5DD-260C-4251-9AF1-05235427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034605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3AAE6AC-7D57-492D-8C1B-324B2A20F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822" y="1160900"/>
            <a:ext cx="18409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笔刷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图片 34">
            <a:extLst>
              <a:ext uri="{FF2B5EF4-FFF2-40B4-BE49-F238E27FC236}">
                <a16:creationId xmlns:a16="http://schemas.microsoft.com/office/drawing/2014/main" id="{2D6F691B-95F8-4675-8E6E-AF7AD2EBF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764704"/>
            <a:ext cx="5009282" cy="444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90FF964-AD7F-468F-95BA-09763710AD11}"/>
              </a:ext>
            </a:extLst>
          </p:cNvPr>
          <p:cNvSpPr txBox="1"/>
          <p:nvPr/>
        </p:nvSpPr>
        <p:spPr>
          <a:xfrm>
            <a:off x="255786" y="4375070"/>
            <a:ext cx="9001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</a:t>
            </a:r>
            <a:r>
              <a:rPr lang="zh-CN" altLang="en-US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画笔大小</a:t>
            </a:r>
          </a:p>
          <a:p>
            <a:r>
              <a:rPr lang="en-US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Tree Density</a:t>
            </a:r>
            <a:r>
              <a:rPr lang="zh-CN" altLang="en-US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模型的密度</a:t>
            </a:r>
          </a:p>
          <a:p>
            <a:r>
              <a:rPr lang="en-US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Tree Height</a:t>
            </a:r>
            <a:r>
              <a:rPr lang="zh-CN" altLang="en-US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模型的高度范围</a:t>
            </a:r>
          </a:p>
          <a:p>
            <a:pPr marL="2514600" indent="-2514600"/>
            <a:r>
              <a:rPr lang="en-US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Lock Width to Height</a:t>
            </a:r>
            <a:r>
              <a:rPr lang="zh-CN" altLang="en-US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是否锁定宽高比，取消勾选后可以设置范围</a:t>
            </a:r>
          </a:p>
          <a:p>
            <a:pPr marL="2514600" indent="-2514600"/>
            <a:r>
              <a:rPr lang="en-US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Random Tree Rotation</a:t>
            </a:r>
            <a:r>
              <a:rPr lang="zh-CN" altLang="en-US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2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是否随机旋转生成的角度</a:t>
            </a:r>
          </a:p>
        </p:txBody>
      </p:sp>
    </p:spTree>
    <p:extLst>
      <p:ext uri="{BB962C8B-B14F-4D97-AF65-F5344CB8AC3E}">
        <p14:creationId xmlns:p14="http://schemas.microsoft.com/office/powerpoint/2010/main" val="524599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植物</a:t>
            </a:r>
            <a:endParaRPr lang="zh-CN" dirty="0"/>
          </a:p>
        </p:txBody>
      </p:sp>
      <p:pic>
        <p:nvPicPr>
          <p:cNvPr id="12289" name="图片 36">
            <a:extLst>
              <a:ext uri="{FF2B5EF4-FFF2-40B4-BE49-F238E27FC236}">
                <a16:creationId xmlns:a16="http://schemas.microsoft.com/office/drawing/2014/main" id="{994D7585-F8BC-4438-94D3-26F8711E5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24744"/>
            <a:ext cx="946251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C94633-FFF5-4661-B66F-84D71778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3" y="1274668"/>
            <a:ext cx="2232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Details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笔刷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01C8DF-9AD2-4D7C-B393-EE6353951FA3}"/>
              </a:ext>
            </a:extLst>
          </p:cNvPr>
          <p:cNvSpPr txBox="1"/>
          <p:nvPr/>
        </p:nvSpPr>
        <p:spPr>
          <a:xfrm>
            <a:off x="552350" y="1947812"/>
            <a:ext cx="7115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首先添加小草模型，如图点击编辑器添加纹理</a:t>
            </a:r>
          </a:p>
        </p:txBody>
      </p:sp>
      <p:pic>
        <p:nvPicPr>
          <p:cNvPr id="12292" name="图片 35">
            <a:extLst>
              <a:ext uri="{FF2B5EF4-FFF2-40B4-BE49-F238E27FC236}">
                <a16:creationId xmlns:a16="http://schemas.microsoft.com/office/drawing/2014/main" id="{EF7FEF19-58EE-4DFE-AF6F-DA3A3C575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50" y="2540024"/>
            <a:ext cx="5268913" cy="318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图片 37">
            <a:extLst>
              <a:ext uri="{FF2B5EF4-FFF2-40B4-BE49-F238E27FC236}">
                <a16:creationId xmlns:a16="http://schemas.microsoft.com/office/drawing/2014/main" id="{92CC77B9-259F-400D-83A8-B8D338272D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17" t="50863" b="18638"/>
          <a:stretch/>
        </p:blipFill>
        <p:spPr bwMode="auto">
          <a:xfrm>
            <a:off x="6444208" y="3370580"/>
            <a:ext cx="258782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15879059-C070-4347-B8FD-F5A30EE2A743}"/>
              </a:ext>
            </a:extLst>
          </p:cNvPr>
          <p:cNvSpPr/>
          <p:nvPr/>
        </p:nvSpPr>
        <p:spPr>
          <a:xfrm>
            <a:off x="5954203" y="3991324"/>
            <a:ext cx="357065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936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植物</a:t>
            </a:r>
            <a:endParaRPr lang="zh-CN" dirty="0"/>
          </a:p>
        </p:txBody>
      </p:sp>
      <p:pic>
        <p:nvPicPr>
          <p:cNvPr id="12289" name="图片 36">
            <a:extLst>
              <a:ext uri="{FF2B5EF4-FFF2-40B4-BE49-F238E27FC236}">
                <a16:creationId xmlns:a16="http://schemas.microsoft.com/office/drawing/2014/main" id="{994D7585-F8BC-4438-94D3-26F8711E5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24744"/>
            <a:ext cx="946251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C94633-FFF5-4661-B66F-84D71778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3" y="1274668"/>
            <a:ext cx="2232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Details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笔刷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01C8DF-9AD2-4D7C-B393-EE6353951FA3}"/>
              </a:ext>
            </a:extLst>
          </p:cNvPr>
          <p:cNvSpPr txBox="1"/>
          <p:nvPr/>
        </p:nvSpPr>
        <p:spPr>
          <a:xfrm>
            <a:off x="552350" y="1947812"/>
            <a:ext cx="7115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首先添加小草模型，如图点击编辑器添加纹理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5879059-C070-4347-B8FD-F5A30EE2A743}"/>
              </a:ext>
            </a:extLst>
          </p:cNvPr>
          <p:cNvSpPr/>
          <p:nvPr/>
        </p:nvSpPr>
        <p:spPr>
          <a:xfrm>
            <a:off x="4412105" y="4061618"/>
            <a:ext cx="357065" cy="457200"/>
          </a:xfrm>
          <a:prstGeom prst="rightArrow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14" name="图片 38">
            <a:extLst>
              <a:ext uri="{FF2B5EF4-FFF2-40B4-BE49-F238E27FC236}">
                <a16:creationId xmlns:a16="http://schemas.microsoft.com/office/drawing/2014/main" id="{C6412F11-DEAD-4F6C-986F-A853BE264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82" y="2428874"/>
            <a:ext cx="3962400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图片 40">
            <a:extLst>
              <a:ext uri="{FF2B5EF4-FFF2-40B4-BE49-F238E27FC236}">
                <a16:creationId xmlns:a16="http://schemas.microsoft.com/office/drawing/2014/main" id="{829C7948-D190-4C89-BA47-B75D0D871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"/>
          <a:stretch/>
        </p:blipFill>
        <p:spPr bwMode="auto">
          <a:xfrm>
            <a:off x="4894919" y="2440457"/>
            <a:ext cx="4177481" cy="4156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9298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植物</a:t>
            </a:r>
            <a:endParaRPr lang="zh-CN" dirty="0"/>
          </a:p>
        </p:txBody>
      </p:sp>
      <p:pic>
        <p:nvPicPr>
          <p:cNvPr id="12289" name="图片 36">
            <a:extLst>
              <a:ext uri="{FF2B5EF4-FFF2-40B4-BE49-F238E27FC236}">
                <a16:creationId xmlns:a16="http://schemas.microsoft.com/office/drawing/2014/main" id="{994D7585-F8BC-4438-94D3-26F8711E5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24744"/>
            <a:ext cx="946251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C94633-FFF5-4661-B66F-84D71778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03" y="1274668"/>
            <a:ext cx="2232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Details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笔刷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图片 39">
            <a:extLst>
              <a:ext uri="{FF2B5EF4-FFF2-40B4-BE49-F238E27FC236}">
                <a16:creationId xmlns:a16="http://schemas.microsoft.com/office/drawing/2014/main" id="{FD6EF2D9-7802-4958-827E-83CCF4E7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665114"/>
            <a:ext cx="4859338" cy="397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E978CAE-3C24-4B76-B805-E1951F42422E}"/>
              </a:ext>
            </a:extLst>
          </p:cNvPr>
          <p:cNvSpPr txBox="1"/>
          <p:nvPr/>
        </p:nvSpPr>
        <p:spPr>
          <a:xfrm>
            <a:off x="192311" y="2454716"/>
            <a:ext cx="4091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Brush Size :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画笔宽度取值范围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Opacity :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画笔强度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Target Strength: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贴图密度</a:t>
            </a:r>
          </a:p>
        </p:txBody>
      </p:sp>
    </p:spTree>
    <p:extLst>
      <p:ext uri="{BB962C8B-B14F-4D97-AF65-F5344CB8AC3E}">
        <p14:creationId xmlns:p14="http://schemas.microsoft.com/office/powerpoint/2010/main" val="1004941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树木和草的绘制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11559" y="1052736"/>
            <a:ext cx="7920881" cy="1569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FF00"/>
                </a:solidFill>
              </a:rPr>
              <a:t>草看不见的问题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FFF00"/>
                </a:solidFill>
              </a:rPr>
              <a:t>调整</a:t>
            </a:r>
            <a:r>
              <a:rPr lang="en-US" altLang="zh-CN" b="1" dirty="0">
                <a:solidFill>
                  <a:srgbClr val="FFFF00"/>
                </a:solidFill>
              </a:rPr>
              <a:t>Detail Distance </a:t>
            </a:r>
            <a:r>
              <a:rPr lang="zh-CN" altLang="en-US" b="1" dirty="0">
                <a:solidFill>
                  <a:srgbClr val="FFFF00"/>
                </a:solidFill>
              </a:rPr>
              <a:t>可视范围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当这个参数最大时，你可以看到最远处的草的距离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710896"/>
            <a:ext cx="3403592" cy="27484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DFE8FE-B207-417B-B977-3FC008185AB9}"/>
              </a:ext>
            </a:extLst>
          </p:cNvPr>
          <p:cNvSpPr txBox="1"/>
          <p:nvPr/>
        </p:nvSpPr>
        <p:spPr>
          <a:xfrm>
            <a:off x="359531" y="5479897"/>
            <a:ext cx="8424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--Detail Density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Details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物体的密度（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单位面积内最多出现多少个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Detail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物体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（草）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--Tree Distance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：在多少米视距范围内显示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Tree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物体</a:t>
            </a:r>
          </a:p>
        </p:txBody>
      </p:sp>
    </p:spTree>
    <p:extLst>
      <p:ext uri="{BB962C8B-B14F-4D97-AF65-F5344CB8AC3E}">
        <p14:creationId xmlns:p14="http://schemas.microsoft.com/office/powerpoint/2010/main" val="195419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树木和草的绘制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11559" y="1052736"/>
            <a:ext cx="7920881" cy="1015021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FF00"/>
                </a:solidFill>
              </a:rPr>
              <a:t>草的左右摆动</a:t>
            </a:r>
            <a:endParaRPr lang="en-US" altLang="zh-CN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FF00"/>
                </a:solidFill>
              </a:rPr>
              <a:t>Wind Settings for Grass</a:t>
            </a:r>
            <a:r>
              <a:rPr lang="zh-CN" altLang="zh-CN" b="1" dirty="0">
                <a:solidFill>
                  <a:srgbClr val="FFFF00"/>
                </a:solidFill>
              </a:rPr>
              <a:t>：草的风域设定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15D2F3-2591-4B81-A20C-55D49E356A41}"/>
              </a:ext>
            </a:extLst>
          </p:cNvPr>
          <p:cNvSpPr txBox="1"/>
          <p:nvPr/>
        </p:nvSpPr>
        <p:spPr>
          <a:xfrm>
            <a:off x="611559" y="2158753"/>
            <a:ext cx="8424937" cy="364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400" b="1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Speed</a:t>
            </a:r>
            <a:r>
              <a:rPr lang="zh-CN" altLang="en-US" sz="2400" b="1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风速，风速越快，草的摆动越大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Size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：草物体的基础大小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Bending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：草物体被风吹弯的最大程度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Terrain Width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：地形最大宽度（米）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Terrain Length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：地形最大长度（米），所以默认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500×500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就是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500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米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×500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米，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1/4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平方公里区域范围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Terrain Height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：地形最大高度（米），这个值决定了我们能够刷出的最高的地形高度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222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913BA-891A-495F-A45A-3AF851784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DA1A3F-3F01-4639-8163-0713A1C48F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930B1086-FB6E-4DB3-8212-2A8E84265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63" y="44624"/>
            <a:ext cx="47355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7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绘制</a:t>
            </a:r>
            <a:r>
              <a:rPr lang="zh-CN" altLang="en-US" dirty="0"/>
              <a:t>水</a:t>
            </a:r>
            <a:endParaRPr 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ECFCD3-8E3E-4646-AB25-DD92A8CF0C9D}"/>
              </a:ext>
            </a:extLst>
          </p:cNvPr>
          <p:cNvSpPr txBox="1"/>
          <p:nvPr/>
        </p:nvSpPr>
        <p:spPr>
          <a:xfrm>
            <a:off x="539552" y="1196752"/>
            <a:ext cx="8064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Project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面板找到</a:t>
            </a:r>
            <a:r>
              <a:rPr lang="zh-CN" altLang="zh-CN" sz="2400" b="1" dirty="0">
                <a:solidFill>
                  <a:srgbClr val="FFFF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导入的资源包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，在</a:t>
            </a:r>
            <a:r>
              <a:rPr lang="en-US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Water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文件夹里找到</a:t>
            </a:r>
            <a:r>
              <a:rPr lang="en-US" altLang="zh-CN" sz="2400" dirty="0" err="1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Predabs</a:t>
            </a:r>
            <a:r>
              <a:rPr lang="zh-CN" altLang="zh-CN" sz="24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文件夹，将里面的预制件拖入场景中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水预制体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）</a:t>
            </a:r>
            <a:endParaRPr lang="zh-CN" altLang="zh-CN" sz="24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362" name="图片 18">
            <a:extLst>
              <a:ext uri="{FF2B5EF4-FFF2-40B4-BE49-F238E27FC236}">
                <a16:creationId xmlns:a16="http://schemas.microsoft.com/office/drawing/2014/main" id="{4C005EC4-FB70-41EE-BD5D-B2A5A428B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11"/>
          <a:stretch/>
        </p:blipFill>
        <p:spPr bwMode="auto">
          <a:xfrm>
            <a:off x="683568" y="2250765"/>
            <a:ext cx="3319829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951FE5-E407-4B5D-BC99-C8FB9A4B3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2996952"/>
            <a:ext cx="4392041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4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雾的效果</a:t>
            </a:r>
            <a:endParaRPr lang="zh-CN" dirty="0"/>
          </a:p>
        </p:txBody>
      </p:sp>
      <p:sp>
        <p:nvSpPr>
          <p:cNvPr id="6" name="内容占位符 6">
            <a:extLst>
              <a:ext uri="{FF2B5EF4-FFF2-40B4-BE49-F238E27FC236}">
                <a16:creationId xmlns:a16="http://schemas.microsoft.com/office/drawing/2014/main" id="{E7055A2D-797A-497F-9D47-26E628951E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528" y="1196752"/>
            <a:ext cx="8568952" cy="3600345"/>
          </a:xfrm>
        </p:spPr>
        <p:txBody>
          <a:bodyPr wrap="square"/>
          <a:lstStyle/>
          <a:p>
            <a:r>
              <a:rPr lang="zh-CN" altLang="en-US" dirty="0"/>
              <a:t>雾的效果制作</a:t>
            </a:r>
          </a:p>
          <a:p>
            <a:pPr marL="0" indent="0">
              <a:buNone/>
            </a:pPr>
            <a:r>
              <a:rPr lang="zh-CN" altLang="en-US" dirty="0"/>
              <a:t>    通过</a:t>
            </a:r>
            <a:r>
              <a:rPr lang="en-US" altLang="zh-CN" dirty="0"/>
              <a:t>Windows--&gt;Lighting</a:t>
            </a:r>
            <a:r>
              <a:rPr lang="zh-CN" altLang="en-US" dirty="0"/>
              <a:t>窗口中</a:t>
            </a:r>
            <a:r>
              <a:rPr lang="en-US" altLang="zh-CN" dirty="0"/>
              <a:t>Scene</a:t>
            </a:r>
            <a:r>
              <a:rPr lang="zh-CN" altLang="en-US" dirty="0"/>
              <a:t>页面打开雾效</a:t>
            </a:r>
          </a:p>
          <a:p>
            <a:pPr marL="0" indent="0">
              <a:buNone/>
            </a:pPr>
            <a:r>
              <a:rPr lang="zh-CN" altLang="en-US" dirty="0"/>
              <a:t>    属性：</a:t>
            </a:r>
            <a:r>
              <a:rPr lang="en-US" altLang="zh-CN" dirty="0"/>
              <a:t>Fog  Color  </a:t>
            </a:r>
            <a:r>
              <a:rPr lang="zh-CN" altLang="en-US" dirty="0"/>
              <a:t>颜色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1C5B5F-A079-4551-992A-ECE4BE973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24944"/>
            <a:ext cx="3414056" cy="30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06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303734"/>
            <a:ext cx="6768752" cy="713088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雾的效果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续</a:t>
            </a:r>
            <a:r>
              <a:rPr lang="en-US" altLang="zh-CN" dirty="0">
                <a:sym typeface="+mn-ea"/>
              </a:rPr>
              <a:t>1)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251520" y="3144162"/>
            <a:ext cx="8712968" cy="3381182"/>
          </a:xfrm>
        </p:spPr>
        <p:txBody>
          <a:bodyPr wrap="square"/>
          <a:lstStyle/>
          <a:p>
            <a:pPr marL="0" indent="0">
              <a:buNone/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Fog Mode   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雾效三种方式</a:t>
            </a:r>
          </a:p>
          <a:p>
            <a:pPr marL="0" indent="0">
              <a:buNone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1)Linear（线性）可配参数Start、End两个距离，雾效从Start开始越接近End越浓，到达End时达到最大浓度，End之后也为最大浓度</a:t>
            </a:r>
          </a:p>
          <a:p>
            <a:pPr marL="0" indent="0">
              <a:buNone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2)Exponential （指数性）可配参数Density，雾的浓度，浓度越大雾越大</a:t>
            </a:r>
          </a:p>
          <a:p>
            <a:pPr marL="0" indent="0">
              <a:buNone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3)Exponential Squared 可配参数Density，越大表示雾越浓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4C3910-BFD8-42BA-A886-82198CC54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268760"/>
            <a:ext cx="5676633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6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绘制一个地形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要求：有山、有沟壑、有植被、有水、有雾效</a:t>
            </a:r>
          </a:p>
        </p:txBody>
      </p:sp>
    </p:spTree>
    <p:extLst>
      <p:ext uri="{BB962C8B-B14F-4D97-AF65-F5344CB8AC3E}">
        <p14:creationId xmlns:p14="http://schemas.microsoft.com/office/powerpoint/2010/main" val="316707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0C0"/>
        </a:solidFill>
        <a:ln w="28575">
          <a:solidFill>
            <a:schemeClr val="tx1"/>
          </a:solidFill>
        </a:ln>
      </a:spPr>
      <a:bodyPr rtlCol="0" anchor="ctr"/>
      <a:lstStyle>
        <a:defPPr algn="ctr">
          <a:defRPr lang="zh-CN" altLang="en-US" sz="14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1092</Words>
  <Application>Microsoft Macintosh PowerPoint</Application>
  <PresentationFormat>全屏显示(4:3)</PresentationFormat>
  <Paragraphs>144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宋体</vt:lpstr>
      <vt:lpstr>微软雅黑</vt:lpstr>
      <vt:lpstr>微软雅黑 Light</vt:lpstr>
      <vt:lpstr>Arial</vt:lpstr>
      <vt:lpstr>Calibri</vt:lpstr>
      <vt:lpstr>Office 主题</vt:lpstr>
      <vt:lpstr>地形绘制（Terrain） </vt:lpstr>
      <vt:lpstr>地形绘制简介</vt:lpstr>
      <vt:lpstr>创建地形</vt:lpstr>
      <vt:lpstr>创建地形</vt:lpstr>
      <vt:lpstr>绘制地形---山丘、高山、洼地、沟壑…</vt:lpstr>
      <vt:lpstr>绘制地形</vt:lpstr>
      <vt:lpstr>绘制地形</vt:lpstr>
      <vt:lpstr>绘制地形</vt:lpstr>
      <vt:lpstr>绘制地形-----绘制草地等</vt:lpstr>
      <vt:lpstr>绘制地形</vt:lpstr>
      <vt:lpstr>绘制地形</vt:lpstr>
      <vt:lpstr>绘制植物</vt:lpstr>
      <vt:lpstr>绘制植物</vt:lpstr>
      <vt:lpstr>绘制植物</vt:lpstr>
      <vt:lpstr>绘制植物</vt:lpstr>
      <vt:lpstr>绘制植物</vt:lpstr>
      <vt:lpstr>树木和草的绘制</vt:lpstr>
      <vt:lpstr>树木和草的绘制</vt:lpstr>
      <vt:lpstr>PowerPoint 演示文稿</vt:lpstr>
      <vt:lpstr>绘制水</vt:lpstr>
      <vt:lpstr>雾的效果</vt:lpstr>
      <vt:lpstr>雾的效果(续1)</vt:lpstr>
      <vt:lpstr>绘制一个地形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JAVA面向对象01</dc:title>
  <dc:creator>tx Q</dc:creator>
  <cp:lastModifiedBy>Xunxiang Yao</cp:lastModifiedBy>
  <cp:revision>3007</cp:revision>
  <cp:lastPrinted>2014-02-25T07:33:00Z</cp:lastPrinted>
  <dcterms:created xsi:type="dcterms:W3CDTF">2017-12-21T12:05:00Z</dcterms:created>
  <dcterms:modified xsi:type="dcterms:W3CDTF">2022-10-25T01:10:44Z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2052-11.1.0.9998</vt:lpwstr>
  </property>
</Properties>
</file>